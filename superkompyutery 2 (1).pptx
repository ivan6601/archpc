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3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89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11" name="Номер слайда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2" name="Нижний колонтитул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Прямоугольник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Прямоугольник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9" name="Дата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10" name="Номер слайда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1" name="Нижний колонтитул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13" name="Рисунок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ru-RU">
                <a:solidFill>
                  <a:schemeClr val="lt1"/>
                </a:solidFill>
                <a:latin typeface="+mn-lt"/>
                <a:ea typeface="+mn-ea"/>
                <a:cs typeface="+mn-cs"/>
              </a:rPr>
              <a:t>Вставка рисунка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Дата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с двумя скругленными противолежащими углами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5B106E36-FD25-4E2D-B0AA-010F637433A0}" type="datetimeFigureOut">
              <a:rPr lang="ru-RU" smtClean="0"/>
              <a:pPr/>
              <a:t>07.12.2025</a:t>
            </a:fld>
            <a:endParaRPr lang="ru-RU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fade thruBlk="1"/>
  </p:transition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ru.wikipedia.org/wiki/%D0%92%D1%8B%D1%87%D0%B8%D1%81%D0%BB%D0%B8%D1%82%D0%B5%D0%BB%D1%8C%D0%BD%D0%B0%D1%8F_%D0%B1%D0%B8%D0%BE%D0%BB%D0%BE%D0%B3%D0%B8%D1%8F" TargetMode="External"/><Relationship Id="rId2" Type="http://schemas.openxmlformats.org/officeDocument/2006/relationships/hyperlink" Target="https://ru.wikipedia.org/wiki/%D0%A7%D0%B8%D1%81%D0%BB%D0%B5%D0%BD%D0%BD%D1%8B%D0%B9_%D0%BF%D1%80%D0%BE%D0%B3%D0%BD%D0%BE%D0%B7_%D0%BF%D0%BE%D0%B3%D0%BE%D0%B4%D1%8B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.wikipedia.org/wiki/%D0%9A%D0%BE%D0%BC%D0%BF%D1%8C%D1%8E%D1%82%D0%B5%D1%80%D0%BD%D0%B0%D1%8F_%D0%BB%D0%B8%D0%BD%D0%B3%D0%B2%D0%B8%D1%81%D1%82%D0%B8%D0%BA%D0%B0" TargetMode="External"/><Relationship Id="rId5" Type="http://schemas.openxmlformats.org/officeDocument/2006/relationships/hyperlink" Target="https://ru.wikipedia.org/wiki/%D0%92%D1%8B%D1%87%D0%B8%D1%81%D0%BB%D0%B8%D1%82%D0%B5%D0%BB%D1%8C%D0%BD%D0%B0%D1%8F_%D0%B3%D0%B8%D0%B4%D1%80%D0%BE%D0%B4%D0%B8%D0%BD%D0%B0%D0%BC%D0%B8%D0%BA%D0%B0" TargetMode="External"/><Relationship Id="rId4" Type="http://schemas.openxmlformats.org/officeDocument/2006/relationships/hyperlink" Target="https://ru.wikipedia.org/wiki/%D0%92%D1%8B%D1%87%D0%B8%D1%81%D0%BB%D0%B8%D1%82%D0%B5%D0%BB%D1%8C%D0%BD%D0%B0%D1%8F_%D1%85%D0%B8%D0%BC%D0%B8%D1%8F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22376" y="1357298"/>
            <a:ext cx="6492830" cy="1714512"/>
          </a:xfrm>
        </p:spPr>
        <p:txBody>
          <a:bodyPr/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Суперкомпьютеры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429256" y="5500702"/>
            <a:ext cx="3351272" cy="1071570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Автор: Юрова А.А.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2920" y="357166"/>
            <a:ext cx="8183880" cy="1285884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Определение понятия «Суперкомпьютер»</a:t>
            </a:r>
          </a:p>
        </p:txBody>
      </p:sp>
      <p:sp>
        <p:nvSpPr>
          <p:cNvPr id="7" name="Содержимое 6"/>
          <p:cNvSpPr>
            <a:spLocks noGrp="1"/>
          </p:cNvSpPr>
          <p:nvPr>
            <p:ph idx="1"/>
          </p:nvPr>
        </p:nvSpPr>
        <p:spPr>
          <a:xfrm>
            <a:off x="571472" y="2143116"/>
            <a:ext cx="3857652" cy="3429024"/>
          </a:xfrm>
        </p:spPr>
        <p:txBody>
          <a:bodyPr>
            <a:normAutofit fontScale="85000" lnSpcReduction="20000"/>
          </a:bodyPr>
          <a:lstStyle/>
          <a:p>
            <a:r>
              <a:rPr lang="ru-RU" b="1" dirty="0" err="1">
                <a:latin typeface="Times New Roman" pitchFamily="18" charset="0"/>
                <a:cs typeface="Times New Roman" pitchFamily="18" charset="0"/>
              </a:rPr>
              <a:t>Суперкомпью́тер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(англ. </a:t>
            </a:r>
            <a:r>
              <a:rPr lang="ru-RU" b="1" i="1" dirty="0" err="1">
                <a:latin typeface="Times New Roman" pitchFamily="18" charset="0"/>
                <a:cs typeface="Times New Roman" pitchFamily="18" charset="0"/>
              </a:rPr>
              <a:t>supercomputer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,)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— вычислительная машина, значительно превосходящая по своим техническим параметрам большинство существующих компьютеров</a:t>
            </a:r>
          </a:p>
        </p:txBody>
      </p:sp>
      <p:pic>
        <p:nvPicPr>
          <p:cNvPr id="21506" name="Picture 2" descr="Прокси.Анонимайзер.Прокси сервер.Прокси сервера.Прокси лист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29124" y="2143116"/>
            <a:ext cx="4343429" cy="2714644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Овал 22"/>
          <p:cNvSpPr/>
          <p:nvPr/>
        </p:nvSpPr>
        <p:spPr>
          <a:xfrm>
            <a:off x="6429388" y="3286124"/>
            <a:ext cx="2000264" cy="2286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Овал 20"/>
          <p:cNvSpPr/>
          <p:nvPr/>
        </p:nvSpPr>
        <p:spPr>
          <a:xfrm>
            <a:off x="3428992" y="3429000"/>
            <a:ext cx="2071702" cy="242889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Овал 19"/>
          <p:cNvSpPr/>
          <p:nvPr/>
        </p:nvSpPr>
        <p:spPr>
          <a:xfrm>
            <a:off x="642910" y="3500438"/>
            <a:ext cx="2143140" cy="235745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>
          <a:xfrm>
            <a:off x="3000364" y="0"/>
            <a:ext cx="4714908" cy="428604"/>
          </a:xfrm>
        </p:spPr>
        <p:txBody>
          <a:bodyPr>
            <a:normAutofit/>
          </a:bodyPr>
          <a:lstStyle/>
          <a:p>
            <a:r>
              <a:rPr lang="ru-RU" b="0" u="sng" dirty="0"/>
              <a:t>Сеймур Крей</a:t>
            </a:r>
            <a:endParaRPr lang="ru-RU" b="0" dirty="0"/>
          </a:p>
          <a:p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half" idx="3"/>
          </p:nvPr>
        </p:nvSpPr>
        <p:spPr>
          <a:xfrm>
            <a:off x="3857620" y="3643314"/>
            <a:ext cx="1500198" cy="2143140"/>
          </a:xfrm>
        </p:spPr>
        <p:txBody>
          <a:bodyPr>
            <a:normAutofit fontScale="92500" lnSpcReduction="20000"/>
          </a:bodyPr>
          <a:lstStyle/>
          <a:p>
            <a:r>
              <a:rPr lang="ru-RU" sz="2200" dirty="0">
                <a:latin typeface="Times New Roman" pitchFamily="18" charset="0"/>
                <a:cs typeface="Times New Roman" pitchFamily="18" charset="0"/>
              </a:rPr>
              <a:t>• </a:t>
            </a:r>
            <a:r>
              <a:rPr lang="ru-RU" sz="2200" b="0" dirty="0">
                <a:latin typeface="Times New Roman" pitchFamily="18" charset="0"/>
                <a:cs typeface="Times New Roman" pitchFamily="18" charset="0"/>
              </a:rPr>
              <a:t>Создатель первого в мире суперкомпьютера Cray-1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642910" y="3643314"/>
            <a:ext cx="1785950" cy="2214578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Родился 28 сентября 1925 г.,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Чиппеуа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Фоллс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(штат Висконсин США</a:t>
            </a:r>
          </a:p>
        </p:txBody>
      </p:sp>
      <p:sp>
        <p:nvSpPr>
          <p:cNvPr id="7" name="Содержимое 6"/>
          <p:cNvSpPr>
            <a:spLocks noGrp="1"/>
          </p:cNvSpPr>
          <p:nvPr>
            <p:ph sz="quarter" idx="4"/>
          </p:nvPr>
        </p:nvSpPr>
        <p:spPr>
          <a:xfrm>
            <a:off x="6429388" y="3357562"/>
            <a:ext cx="1643074" cy="1643074"/>
          </a:xfrm>
        </p:spPr>
        <p:txBody>
          <a:bodyPr>
            <a:normAutofit fontScale="25000" lnSpcReduction="20000"/>
          </a:bodyPr>
          <a:lstStyle/>
          <a:p>
            <a:r>
              <a:rPr lang="ru-RU" sz="7200" dirty="0">
                <a:latin typeface="Times New Roman" pitchFamily="18" charset="0"/>
                <a:cs typeface="Times New Roman" pitchFamily="18" charset="0"/>
              </a:rPr>
              <a:t>•</a:t>
            </a:r>
            <a:r>
              <a:rPr lang="ru-RU" sz="7200" dirty="0" err="1">
                <a:latin typeface="Times New Roman" pitchFamily="18" charset="0"/>
                <a:cs typeface="Times New Roman" pitchFamily="18" charset="0"/>
              </a:rPr>
              <a:t>Амеркан-ский</a:t>
            </a:r>
            <a:r>
              <a:rPr lang="ru-RU" sz="7200" dirty="0">
                <a:latin typeface="Times New Roman" pitchFamily="18" charset="0"/>
                <a:cs typeface="Times New Roman" pitchFamily="18" charset="0"/>
              </a:rPr>
              <a:t> инженер, создатель ряда американских суперкомпьютеров</a:t>
            </a:r>
          </a:p>
          <a:p>
            <a:endParaRPr lang="ru-RU" dirty="0"/>
          </a:p>
        </p:txBody>
      </p:sp>
      <p:pic>
        <p:nvPicPr>
          <p:cNvPr id="20482" name="Picture 2" descr="http://cs14112.vk.me/c618730/v618730324/1f63b/fwmy1WTXY0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00364" y="357166"/>
            <a:ext cx="2497628" cy="2571768"/>
          </a:xfrm>
          <a:prstGeom prst="rect">
            <a:avLst/>
          </a:prstGeom>
          <a:noFill/>
        </p:spPr>
      </p:pic>
      <p:cxnSp>
        <p:nvCxnSpPr>
          <p:cNvPr id="11" name="Прямая со стрелкой 10"/>
          <p:cNvCxnSpPr/>
          <p:nvPr/>
        </p:nvCxnSpPr>
        <p:spPr>
          <a:xfrm rot="10800000" flipV="1">
            <a:off x="2000232" y="2928934"/>
            <a:ext cx="85725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 rot="16200000" flipH="1">
            <a:off x="3929058" y="3214686"/>
            <a:ext cx="642942" cy="7143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5143504" y="2928934"/>
            <a:ext cx="1285884" cy="5000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643438" y="714356"/>
            <a:ext cx="4043362" cy="4003948"/>
          </a:xfrm>
        </p:spPr>
        <p:txBody>
          <a:bodyPr>
            <a:noAutofit/>
          </a:bodyPr>
          <a:lstStyle/>
          <a:p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Как правило, современные суперкомпьютеры представляют собой большое число высокопроизводительных серверных компьютеров, соединённых друг с другом локальной высокоскоростной магистралью для достижения максимальной производительности в рамках подхода распараллеливания вычислительной задачи.</a:t>
            </a:r>
          </a:p>
        </p:txBody>
      </p:sp>
      <p:pic>
        <p:nvPicPr>
          <p:cNvPr id="19458" name="Picture 2" descr="Китай запустил мощный суперкомпьютер на собственных процессорах КОМПЬЮТЕРНЫЕ ВЕСТ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500042"/>
            <a:ext cx="3783052" cy="2515877"/>
          </a:xfrm>
          <a:prstGeom prst="rect">
            <a:avLst/>
          </a:prstGeom>
          <a:noFill/>
        </p:spPr>
      </p:pic>
      <p:pic>
        <p:nvPicPr>
          <p:cNvPr id="19460" name="Picture 4" descr="Белый ветер поставит МГУ суперкомпьютер Blue Gen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3429000"/>
            <a:ext cx="3987161" cy="265545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вал 3"/>
          <p:cNvSpPr/>
          <p:nvPr/>
        </p:nvSpPr>
        <p:spPr>
          <a:xfrm>
            <a:off x="5000628" y="1071546"/>
            <a:ext cx="3714776" cy="37147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429256" y="1428736"/>
            <a:ext cx="2857520" cy="3000396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Одним из первых суперкомпьютеров считается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Cray1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, созданный в 1974 году. </a:t>
            </a:r>
          </a:p>
        </p:txBody>
      </p:sp>
      <p:pic>
        <p:nvPicPr>
          <p:cNvPr id="18438" name="Picture 6" descr="Проект Cray-1 - Статьи о зарубежном моддинге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2910" y="714356"/>
            <a:ext cx="3838568" cy="4835992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628" y="530352"/>
            <a:ext cx="3686172" cy="4184532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С помощью поддержки векторных операций эта супер-ЭВМ достигала производительности в 180 миллионов операций в секунду над числами с плавающей точкой.</a:t>
            </a:r>
          </a:p>
          <a:p>
            <a:endParaRPr lang="ru-RU" dirty="0"/>
          </a:p>
        </p:txBody>
      </p:sp>
      <p:pic>
        <p:nvPicPr>
          <p:cNvPr id="17410" name="Picture 2" descr="http://images.bit-tech.net/content_images/2010/07/cray-1-by-daryl-brach/cray-1-6-1280x102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472" y="1000108"/>
            <a:ext cx="4643438" cy="3714751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428604"/>
            <a:ext cx="8183880" cy="428628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Применение</a:t>
            </a:r>
            <a:br>
              <a:rPr lang="ru-RU" b="0" dirty="0">
                <a:latin typeface="Times New Roman" pitchFamily="18" charset="0"/>
                <a:cs typeface="Times New Roman" pitchFamily="18" charset="0"/>
              </a:rPr>
            </a:b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442762"/>
            <a:ext cx="8258204" cy="2557610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Суперкомпьютеры используются во всех сферах, где для решения задачи применяется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численное моделирование; там, где требуется огромный объём сложных вычислений, обработка большого количества данных в реальном времени, или решение задачи может быть найдено простым перебором множества значений множества исходных параметров</a:t>
            </a:r>
          </a:p>
        </p:txBody>
      </p:sp>
      <p:pic>
        <p:nvPicPr>
          <p:cNvPr id="16386" name="Picture 2" descr="Блоги о промышленности на Complexdoc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857752" y="2214554"/>
            <a:ext cx="3730425" cy="2490776"/>
          </a:xfrm>
          <a:prstGeom prst="rect">
            <a:avLst/>
          </a:prstGeom>
          <a:noFill/>
        </p:spPr>
      </p:pic>
      <p:pic>
        <p:nvPicPr>
          <p:cNvPr id="16388" name="Picture 4" descr="CFD Вычислительная гидродинамика Новости спорта в Украине и мире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34" y="2928934"/>
            <a:ext cx="4011650" cy="2671760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Возможные последствия реализации инициативы Обамы по разоружению. Часть3 &quot; Выживание в чрезвычайных ситуациях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20" y="2928934"/>
            <a:ext cx="4115050" cy="2738433"/>
          </a:xfrm>
          <a:prstGeom prst="rect">
            <a:avLst/>
          </a:prstGeom>
          <a:noFill/>
        </p:spPr>
      </p:pic>
      <p:sp>
        <p:nvSpPr>
          <p:cNvPr id="4" name="Овал 3"/>
          <p:cNvSpPr/>
          <p:nvPr/>
        </p:nvSpPr>
        <p:spPr>
          <a:xfrm>
            <a:off x="4143372" y="714356"/>
            <a:ext cx="4429156" cy="43577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429124" y="1214422"/>
            <a:ext cx="4257676" cy="3503882"/>
          </a:xfrm>
        </p:spPr>
        <p:txBody>
          <a:bodyPr>
            <a:normAutofit fontScale="92500" lnSpcReduction="2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Поначалу суперкомпьютеры применялись почти исключительно для оборонных задач: расчёты по ядерному и термоядерному оружию, ядерным реакторам. </a:t>
            </a:r>
          </a:p>
        </p:txBody>
      </p:sp>
      <p:pic>
        <p:nvPicPr>
          <p:cNvPr id="14338" name="Picture 2" descr="Аргументы и Факты : Общество - новости Wikidigger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500042"/>
            <a:ext cx="3514147" cy="2333613"/>
          </a:xfrm>
          <a:prstGeom prst="rect">
            <a:avLst/>
          </a:prstGeom>
          <a:noFill/>
        </p:spPr>
      </p:pic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00034" y="500042"/>
            <a:ext cx="8183880" cy="4187952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Потом, по мере совершенствования математического аппарата численного моделирования, развития знаний в других сферах науки — суперкомпьютеры стали применяться и в «мирных» расчётах, создавая новые научные дисциплины, как то: </a:t>
            </a:r>
            <a:r>
              <a:rPr lang="ru-RU" dirty="0">
                <a:hlinkClick r:id="rId2" tooltip="Численный прогноз погоды"/>
              </a:rPr>
              <a:t>численный прогноз погоды</a:t>
            </a:r>
            <a:r>
              <a:rPr lang="ru-RU" dirty="0"/>
              <a:t>, </a:t>
            </a:r>
            <a:r>
              <a:rPr lang="ru-RU" dirty="0">
                <a:hlinkClick r:id="rId3" tooltip="Вычислительная биология"/>
              </a:rPr>
              <a:t>вычислительная биология</a:t>
            </a:r>
            <a:r>
              <a:rPr lang="ru-RU" dirty="0"/>
              <a:t> ,</a:t>
            </a:r>
            <a:r>
              <a:rPr lang="ru-RU" dirty="0">
                <a:hlinkClick r:id="rId4" tooltip="Вычислительная химия"/>
              </a:rPr>
              <a:t>вычислительная химия</a:t>
            </a:r>
            <a:r>
              <a:rPr lang="ru-RU" dirty="0"/>
              <a:t>, </a:t>
            </a:r>
            <a:r>
              <a:rPr lang="ru-RU" dirty="0">
                <a:hlinkClick r:id="rId5" tooltip="Вычислительная гидродинамика"/>
              </a:rPr>
              <a:t>вычислительная гидродинамика</a:t>
            </a:r>
            <a:r>
              <a:rPr lang="ru-RU" dirty="0"/>
              <a:t>, </a:t>
            </a:r>
            <a:r>
              <a:rPr lang="ru-RU" dirty="0">
                <a:hlinkClick r:id="rId6" tooltip="Компьютерная лингвистика"/>
              </a:rPr>
              <a:t>вычислительная лингвистика</a:t>
            </a:r>
            <a:r>
              <a:rPr lang="ru-RU" dirty="0"/>
              <a:t> и проч.</a:t>
            </a: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вал 12"/>
          <p:cNvSpPr/>
          <p:nvPr/>
        </p:nvSpPr>
        <p:spPr>
          <a:xfrm>
            <a:off x="5857884" y="2786058"/>
            <a:ext cx="2714644" cy="264320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Овал 10"/>
          <p:cNvSpPr/>
          <p:nvPr/>
        </p:nvSpPr>
        <p:spPr>
          <a:xfrm>
            <a:off x="2714612" y="1928802"/>
            <a:ext cx="3143272" cy="292895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Овал 9"/>
          <p:cNvSpPr/>
          <p:nvPr/>
        </p:nvSpPr>
        <p:spPr>
          <a:xfrm>
            <a:off x="357158" y="2928934"/>
            <a:ext cx="2357454" cy="2286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2428860" y="5629277"/>
            <a:ext cx="4286280" cy="800120"/>
          </a:xfrm>
        </p:spPr>
        <p:txBody>
          <a:bodyPr>
            <a:normAutofit fontScale="85000" lnSpcReduction="2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Примерный список областей применения суперкомпьютеров</a:t>
            </a:r>
          </a:p>
        </p:txBody>
      </p:sp>
      <p:sp>
        <p:nvSpPr>
          <p:cNvPr id="7" name="Текст 6"/>
          <p:cNvSpPr>
            <a:spLocks noGrp="1"/>
          </p:cNvSpPr>
          <p:nvPr>
            <p:ph type="body" sz="half" idx="3"/>
          </p:nvPr>
        </p:nvSpPr>
        <p:spPr>
          <a:xfrm>
            <a:off x="3071802" y="2714620"/>
            <a:ext cx="2857521" cy="1085872"/>
          </a:xfrm>
        </p:spPr>
        <p:txBody>
          <a:bodyPr>
            <a:noAutofit/>
          </a:bodyPr>
          <a:lstStyle/>
          <a:p>
            <a:r>
              <a:rPr lang="ru-RU" sz="2000" b="0" dirty="0">
                <a:latin typeface="Times New Roman" pitchFamily="18" charset="0"/>
                <a:cs typeface="Times New Roman" pitchFamily="18" charset="0"/>
              </a:rPr>
              <a:t>Физика высоких энергий: процессы внутри ядра, моделирование ядерных процессов, проектирование атомных реакторов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2"/>
          </p:nvPr>
        </p:nvSpPr>
        <p:spPr>
          <a:xfrm>
            <a:off x="357158" y="3500438"/>
            <a:ext cx="2500330" cy="17859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Математические проблемы:</a:t>
            </a:r>
          </a:p>
          <a:p>
            <a:pPr>
              <a:buNone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криптография и статистика</a:t>
            </a:r>
          </a:p>
        </p:txBody>
      </p:sp>
      <p:sp>
        <p:nvSpPr>
          <p:cNvPr id="8" name="Содержимое 7"/>
          <p:cNvSpPr>
            <a:spLocks noGrp="1"/>
          </p:cNvSpPr>
          <p:nvPr>
            <p:ph sz="quarter" idx="4"/>
          </p:nvPr>
        </p:nvSpPr>
        <p:spPr>
          <a:xfrm>
            <a:off x="5786446" y="3286124"/>
            <a:ext cx="2797643" cy="1857388"/>
          </a:xfrm>
        </p:spPr>
        <p:txBody>
          <a:bodyPr>
            <a:normAutofit fontScale="92500" lnSpcReduction="10000"/>
          </a:bodyPr>
          <a:lstStyle/>
          <a:p>
            <a:r>
              <a:rPr lang="ru-RU" dirty="0">
                <a:latin typeface="Times New Roman" pitchFamily="18" charset="0"/>
                <a:cs typeface="Times New Roman" pitchFamily="18" charset="0"/>
              </a:rPr>
              <a:t>Численный прогноз погоды, вычисление землетрясений,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фолдинг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белка, поиск и создание новых лекарств </a:t>
            </a:r>
          </a:p>
        </p:txBody>
      </p:sp>
      <p:cxnSp>
        <p:nvCxnSpPr>
          <p:cNvPr id="15" name="Прямая со стрелкой 14"/>
          <p:cNvCxnSpPr/>
          <p:nvPr/>
        </p:nvCxnSpPr>
        <p:spPr>
          <a:xfrm rot="5400000">
            <a:off x="1464447" y="1464455"/>
            <a:ext cx="1571636" cy="12144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/>
          <p:cNvCxnSpPr/>
          <p:nvPr/>
        </p:nvCxnSpPr>
        <p:spPr>
          <a:xfrm rot="5400000">
            <a:off x="3893339" y="1535893"/>
            <a:ext cx="64294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endCxn id="13" idx="0"/>
          </p:cNvCxnSpPr>
          <p:nvPr/>
        </p:nvCxnSpPr>
        <p:spPr>
          <a:xfrm rot="16200000" flipH="1">
            <a:off x="5607851" y="1178703"/>
            <a:ext cx="1643074" cy="157163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Литейная">
  <a:themeElements>
    <a:clrScheme name="Литейная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Литейная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Литейная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48</TotalTime>
  <Words>285</Words>
  <Application>Microsoft Office PowerPoint</Application>
  <PresentationFormat>Экран (4:3)</PresentationFormat>
  <Paragraphs>20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Cambria</vt:lpstr>
      <vt:lpstr>Rockwell</vt:lpstr>
      <vt:lpstr>Times New Roman</vt:lpstr>
      <vt:lpstr>Wingdings 2</vt:lpstr>
      <vt:lpstr>Литейная</vt:lpstr>
      <vt:lpstr>Суперкомпьютеры</vt:lpstr>
      <vt:lpstr>Определение понятия «Суперкомпьютер»</vt:lpstr>
      <vt:lpstr>Презентация PowerPoint</vt:lpstr>
      <vt:lpstr>Презентация PowerPoint</vt:lpstr>
      <vt:lpstr>Презентация PowerPoint</vt:lpstr>
      <vt:lpstr>Презентация PowerPoint</vt:lpstr>
      <vt:lpstr>Применение 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Суперкомпьютеры</dc:title>
  <dc:creator>Иван</dc:creator>
  <cp:lastModifiedBy>Алексей Ермаков</cp:lastModifiedBy>
  <cp:revision>9</cp:revision>
  <dcterms:modified xsi:type="dcterms:W3CDTF">2025-12-07T11:57:29Z</dcterms:modified>
</cp:coreProperties>
</file>